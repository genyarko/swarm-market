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2" r:id="rId5"/>
    <p:sldId id="260" r:id="rId6"/>
    <p:sldId id="262" r:id="rId7"/>
    <p:sldId id="264" r:id="rId8"/>
    <p:sldId id="266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97" d="100"/>
          <a:sy n="97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Inter"/>
              </a:defRPr>
            </a:pPr>
            <a:r>
              <a:rPr lang="en-US" sz="1600" b="1" dirty="0">
                <a:solidFill>
                  <a:srgbClr val="FFFFFF"/>
                </a:solidFill>
                <a:latin typeface="Inter"/>
              </a:rPr>
              <a:t>Gas Cost per Transaction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Gas Cost</c:v>
          </c:tx>
          <c:spPr>
            <a:noFill/>
            <a:ln w="0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4757"/>
              </a:solidFill>
            </c:spPr>
            <c:extLst>
              <c:ext xmlns:c16="http://schemas.microsoft.com/office/drawing/2014/chart" uri="{C3380CC4-5D6E-409C-BE32-E72D297353CC}">
                <c16:uniqueId val="{00000001-9D54-4D26-B4B5-50F3251652FD}"/>
              </c:ext>
            </c:extLst>
          </c:dPt>
          <c:dPt>
            <c:idx val="1"/>
            <c:invertIfNegative val="1"/>
            <c:bubble3D val="0"/>
            <c:spPr>
              <a:solidFill>
                <a:srgbClr val="FF6B35"/>
              </a:solidFill>
            </c:spPr>
            <c:extLst>
              <c:ext xmlns:c16="http://schemas.microsoft.com/office/drawing/2014/chart" uri="{C3380CC4-5D6E-409C-BE32-E72D297353CC}">
                <c16:uniqueId val="{00000003-9D54-4D26-B4B5-50F3251652FD}"/>
              </c:ext>
            </c:extLst>
          </c:dPt>
          <c:dPt>
            <c:idx val="2"/>
            <c:invertIfNegative val="1"/>
            <c:bubble3D val="0"/>
            <c:spPr>
              <a:solidFill>
                <a:srgbClr val="FFB347"/>
              </a:solidFill>
            </c:spPr>
            <c:extLst>
              <c:ext xmlns:c16="http://schemas.microsoft.com/office/drawing/2014/chart" uri="{C3380CC4-5D6E-409C-BE32-E72D297353CC}">
                <c16:uniqueId val="{00000005-9D54-4D26-B4B5-50F3251652FD}"/>
              </c:ext>
            </c:extLst>
          </c:dPt>
          <c:dPt>
            <c:idx val="3"/>
            <c:invertIfNegative val="1"/>
            <c:bubble3D val="0"/>
            <c:spPr>
              <a:solidFill>
                <a:srgbClr val="0052FF"/>
              </a:solidFill>
            </c:spPr>
            <c:extLst>
              <c:ext xmlns:c16="http://schemas.microsoft.com/office/drawing/2014/chart" uri="{C3380CC4-5D6E-409C-BE32-E72D297353CC}">
                <c16:uniqueId val="{00000007-9D54-4D26-B4B5-50F3251652FD}"/>
              </c:ext>
            </c:extLst>
          </c:dPt>
          <c:dPt>
            <c:idx val="4"/>
            <c:invertIfNegative val="1"/>
            <c:bubble3D val="0"/>
            <c:spPr>
              <a:solidFill>
                <a:srgbClr val="00D4AA"/>
              </a:solidFill>
            </c:spPr>
            <c:extLst>
              <c:ext xmlns:c16="http://schemas.microsoft.com/office/drawing/2014/chart" uri="{C3380CC4-5D6E-409C-BE32-E72D297353CC}">
                <c16:uniqueId val="{00000009-9D54-4D26-B4B5-50F3251652FD}"/>
              </c:ext>
            </c:extLst>
          </c:dPt>
          <c:dLbls>
            <c:numFmt formatCode="\$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D0D0D0"/>
                    </a:solidFill>
                    <a:latin typeface="In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Reward</c:v>
              </c:pt>
              <c:pt idx="1">
                <c:v>Ethereum</c:v>
              </c:pt>
              <c:pt idx="2">
                <c:v>Base</c:v>
              </c:pt>
              <c:pt idx="3">
                <c:v>Polygon</c:v>
              </c:pt>
              <c:pt idx="4">
                <c:v>Arc</c:v>
              </c:pt>
            </c:strLit>
          </c:cat>
          <c:val>
            <c:numLit>
              <c:formatCode>General</c:formatCode>
              <c:ptCount val="5"/>
              <c:pt idx="0">
                <c:v>3.0000000000000001E-3</c:v>
              </c:pt>
              <c:pt idx="1">
                <c:v>0.6</c:v>
              </c:pt>
              <c:pt idx="2">
                <c:v>0.02</c:v>
              </c:pt>
              <c:pt idx="3">
                <c:v>5.0000000000000001E-3</c:v>
              </c:pt>
              <c:pt idx="4">
                <c:v>1E-4</c:v>
              </c:pt>
            </c:numLit>
          </c:val>
          <c:extLst>
            <c:ext xmlns:c16="http://schemas.microsoft.com/office/drawing/2014/chart" uri="{C3380CC4-5D6E-409C-BE32-E72D297353CC}">
              <c16:uniqueId val="{0000000A-9D54-4D26-B4B5-50F325165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D0D0D0"/>
                </a:solidFill>
                <a:latin typeface="Inte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629400"/>
            <a:ext cx="12192000" cy="45720"/>
          </a:xfrm>
          <a:prstGeom prst="rect">
            <a:avLst/>
          </a:prstGeom>
          <a:gradFill>
            <a:gsLst>
              <a:gs pos="0">
                <a:srgbClr val="0052FF"/>
              </a:gs>
              <a:gs pos="50000">
                <a:srgbClr val="7B61FF"/>
              </a:gs>
              <a:gs pos="100000">
                <a:srgbClr val="00D4AA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0D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0D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0D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0D0D0"/>
          </a:solidFill>
        </a:defRPr>
      </a:defPPr>
      <a:lvl1pPr marL="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1651000"/>
            <a:ext cx="112776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  <a:latin typeface="Inter"/>
              </a:rPr>
              <a:t>Agent Swarm Task Market</a:t>
            </a:r>
          </a:p>
        </p:txBody>
      </p:sp>
      <p:sp>
        <p:nvSpPr>
          <p:cNvPr id="11" name="Subtitle"/>
          <p:cNvSpPr/>
          <p:nvPr/>
        </p:nvSpPr>
        <p:spPr>
          <a:xfrm>
            <a:off x="457200" y="3238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800" dirty="0">
                <a:solidFill>
                  <a:srgbClr val="B0B0B0"/>
                </a:solidFill>
                <a:latin typeface="Inter"/>
              </a:rPr>
              <a:t>An autonomous micro-task economy on Arc</a:t>
            </a:r>
          </a:p>
        </p:txBody>
      </p:sp>
      <p:sp>
        <p:nvSpPr>
          <p:cNvPr id="12" name="Footer"/>
          <p:cNvSpPr/>
          <p:nvPr/>
        </p:nvSpPr>
        <p:spPr>
          <a:xfrm>
            <a:off x="457200" y="59690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400" dirty="0">
                <a:solidFill>
                  <a:srgbClr val="888888"/>
                </a:solidFill>
                <a:latin typeface="Inter"/>
              </a:rPr>
              <a:t>Circle × Arc Hackathon · April 2026 · Track: Agent-to-Agent Payment Loop</a:t>
            </a:r>
          </a:p>
        </p:txBody>
      </p:sp>
      <p:sp>
        <p:nvSpPr>
          <p:cNvPr id="13" name="FlowLine"/>
          <p:cNvSpPr/>
          <p:nvPr/>
        </p:nvSpPr>
        <p:spPr>
          <a:xfrm>
            <a:off x="1828800" y="43815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800" dirty="0">
                <a:solidFill>
                  <a:srgbClr val="0052FF"/>
                </a:solidFill>
                <a:latin typeface="Inter"/>
              </a:rPr>
              <a:t>Coordinator  →  8 Specialists  →  USDC on Arc</a:t>
            </a:r>
          </a:p>
        </p:txBody>
      </p:sp>
    </p:spTree>
    <p:extLst>
      <p:ext uri="{BB962C8B-B14F-4D97-AF65-F5344CB8AC3E}">
        <p14:creationId xmlns:p14="http://schemas.microsoft.com/office/powerpoint/2010/main" val="217545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5FBC-1438-2100-D4B0-57E66DA4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Inter"/>
              </a:rPr>
              <a:t>The agent economy stalls at 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73A2D-0D8E-8458-B372-4B0B79D0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4953000" cy="4572000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sz="2400" dirty="0">
                <a:solidFill>
                  <a:srgbClr val="D0D0D0"/>
                </a:solidFill>
                <a:latin typeface="Inter"/>
              </a:rPr>
              <a:t>A $0.003 AI task cannot pay </a:t>
            </a:r>
            <a:r>
              <a:rPr lang="en-US" sz="2400" b="1" dirty="0">
                <a:solidFill>
                  <a:srgbClr val="FF4757"/>
                </a:solidFill>
                <a:latin typeface="Inter"/>
              </a:rPr>
              <a:t>$0.60</a:t>
            </a:r>
            <a:r>
              <a:rPr lang="en-US" sz="2400" dirty="0">
                <a:solidFill>
                  <a:srgbClr val="D0D0D0"/>
                </a:solidFill>
                <a:latin typeface="Inter"/>
              </a:rPr>
              <a:t> of Ethereum gas to settle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>
                <a:solidFill>
                  <a:srgbClr val="D0D0D0"/>
                </a:solidFill>
                <a:latin typeface="Inter"/>
              </a:rPr>
              <a:t>Even L2s cost </a:t>
            </a:r>
            <a:r>
              <a:rPr lang="en-US" sz="2400" b="1" dirty="0">
                <a:solidFill>
                  <a:srgbClr val="FF6B35"/>
                </a:solidFill>
                <a:latin typeface="Inter"/>
              </a:rPr>
              <a:t>$0.02–$0.08</a:t>
            </a:r>
            <a:r>
              <a:rPr lang="en-US" sz="2400" dirty="0">
                <a:solidFill>
                  <a:srgbClr val="D0D0D0"/>
                </a:solidFill>
                <a:latin typeface="Inter"/>
              </a:rPr>
              <a:t> per tx — still 20–80× the reward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>
                <a:solidFill>
                  <a:srgbClr val="D0D0D0"/>
                </a:solidFill>
                <a:latin typeface="Inter"/>
              </a:rPr>
              <a:t>Result: every “AI agents paying each other” demo is </a:t>
            </a:r>
            <a:r>
              <a:rPr lang="en-US" sz="2400" b="1" dirty="0">
                <a:solidFill>
                  <a:srgbClr val="FF4757"/>
                </a:solidFill>
                <a:latin typeface="Inter"/>
              </a:rPr>
              <a:t>faked with batching or custodians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39395450"/>
              </p:ext>
            </p:extLst>
          </p:nvPr>
        </p:nvGraphicFramePr>
        <p:xfrm>
          <a:off x="5588000" y="1828800"/>
          <a:ext cx="614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50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286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Arc + USDC-as-gas + Nanopayments</a:t>
            </a:r>
          </a:p>
          <a:p>
            <a:pPr algn="l">
              <a:buNone/>
            </a:pPr>
            <a:r>
              <a:rPr lang="en-US" sz="2000" dirty="0">
                <a:solidFill>
                  <a:srgbClr val="0052FF"/>
                </a:solidFill>
                <a:latin typeface="Inter"/>
              </a:rPr>
              <a:t>= viable per-action pricing</a:t>
            </a:r>
          </a:p>
        </p:txBody>
      </p:sp>
      <p:sp>
        <p:nvSpPr>
          <p:cNvPr id="30" name="Card0"/>
          <p:cNvSpPr/>
          <p:nvPr/>
        </p:nvSpPr>
        <p:spPr>
          <a:xfrm>
            <a:off x="457200" y="1778000"/>
            <a:ext cx="3429000" cy="43180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1" name="CardText0"/>
          <p:cNvSpPr/>
          <p:nvPr/>
        </p:nvSpPr>
        <p:spPr>
          <a:xfrm>
            <a:off x="548640" y="1828800"/>
            <a:ext cx="3246120" cy="421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200" b="1" dirty="0">
                <a:solidFill>
                  <a:srgbClr val="0052FF"/>
                </a:solidFill>
                <a:latin typeface="Inter"/>
              </a:rPr>
              <a:t>Arc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Sub-second finality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Deterministic fees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Purpose-built L1</a:t>
            </a:r>
          </a:p>
        </p:txBody>
      </p:sp>
      <p:sp>
        <p:nvSpPr>
          <p:cNvPr id="32" name="Card1"/>
          <p:cNvSpPr/>
          <p:nvPr/>
        </p:nvSpPr>
        <p:spPr>
          <a:xfrm>
            <a:off x="4114800" y="1778000"/>
            <a:ext cx="3429000" cy="43180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3" name="CardText1"/>
          <p:cNvSpPr/>
          <p:nvPr/>
        </p:nvSpPr>
        <p:spPr>
          <a:xfrm>
            <a:off x="4206240" y="1828800"/>
            <a:ext cx="3246120" cy="421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200" b="1" dirty="0">
                <a:solidFill>
                  <a:srgbClr val="00D4AA"/>
                </a:solidFill>
                <a:latin typeface="Inter"/>
              </a:rPr>
              <a:t>USDC Native Gas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No ETH/MATIC drift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One currency, one number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Price tasks accurately</a:t>
            </a:r>
          </a:p>
        </p:txBody>
      </p:sp>
      <p:sp>
        <p:nvSpPr>
          <p:cNvPr id="34" name="Card2"/>
          <p:cNvSpPr/>
          <p:nvPr/>
        </p:nvSpPr>
        <p:spPr>
          <a:xfrm>
            <a:off x="7772400" y="1778000"/>
            <a:ext cx="3429000" cy="43180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5" name="CardText2"/>
          <p:cNvSpPr/>
          <p:nvPr/>
        </p:nvSpPr>
        <p:spPr>
          <a:xfrm>
            <a:off x="7863840" y="1828800"/>
            <a:ext cx="3246120" cy="421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200" b="1" dirty="0">
                <a:solidFill>
                  <a:srgbClr val="7B61FF"/>
                </a:solidFill>
                <a:latin typeface="Inter"/>
              </a:rPr>
              <a:t>Circle Nanopayments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Gateway batched settlement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Sub-cent API monetization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C0C0C0"/>
                </a:solidFill>
                <a:latin typeface="Inter"/>
              </a:rPr>
              <a:t>@circle-fin/x402-batching</a:t>
            </a:r>
          </a:p>
        </p:txBody>
      </p:sp>
    </p:spTree>
    <p:extLst>
      <p:ext uri="{BB962C8B-B14F-4D97-AF65-F5344CB8AC3E}">
        <p14:creationId xmlns:p14="http://schemas.microsoft.com/office/powerpoint/2010/main" val="249886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"/>
          <p:cNvSpPr/>
          <p:nvPr/>
        </p:nvSpPr>
        <p:spPr>
          <a:xfrm>
            <a:off x="457200" y="1524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Full autonomous loop, on-chain settlement</a:t>
            </a:r>
          </a:p>
        </p:txBody>
      </p:sp>
      <p:sp>
        <p:nvSpPr>
          <p:cNvPr id="41" name="Coordinator"/>
          <p:cNvSpPr/>
          <p:nvPr/>
        </p:nvSpPr>
        <p:spPr>
          <a:xfrm>
            <a:off x="457200" y="1143000"/>
            <a:ext cx="2286000" cy="68580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/>
              </a:rPr>
              <a:t>Coordinator Agent</a:t>
            </a:r>
          </a:p>
        </p:txBody>
      </p:sp>
      <p:sp>
        <p:nvSpPr>
          <p:cNvPr id="42" name="TaskMarket"/>
          <p:cNvSpPr/>
          <p:nvPr/>
        </p:nvSpPr>
        <p:spPr>
          <a:xfrm>
            <a:off x="4114800" y="1143000"/>
            <a:ext cx="3429000" cy="685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52F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/>
              </a:rPr>
              <a:t>TaskMarket.sol</a:t>
            </a:r>
          </a:p>
          <a:p>
            <a:pPr algn="ctr">
              <a:buNone/>
            </a:pPr>
            <a:r>
              <a:rPr lang="en-US" sz="1400" dirty="0">
                <a:solidFill>
                  <a:srgbClr val="B0B0B0"/>
                </a:solidFill>
                <a:latin typeface="Inter"/>
              </a:rPr>
              <a:t>postTask / bidOnTask</a:t>
            </a:r>
          </a:p>
        </p:txBody>
      </p:sp>
      <p:sp>
        <p:nvSpPr>
          <p:cNvPr id="43" name="Specialists"/>
          <p:cNvSpPr/>
          <p:nvPr/>
        </p:nvSpPr>
        <p:spPr>
          <a:xfrm>
            <a:off x="8686800" y="1143000"/>
            <a:ext cx="2743200" cy="685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/>
              </a:rPr>
              <a:t>8 Specialists</a:t>
            </a:r>
          </a:p>
          <a:p>
            <a:pPr algn="ctr">
              <a:buNone/>
            </a:pPr>
            <a:r>
              <a:rPr lang="en-US" sz="1400" dirty="0">
                <a:solidFill>
                  <a:srgbClr val="B0B0B0"/>
                </a:solidFill>
                <a:latin typeface="Inter"/>
              </a:rPr>
              <a:t>Claude Haiku 4.5</a:t>
            </a:r>
          </a:p>
        </p:txBody>
      </p:sp>
      <p:sp>
        <p:nvSpPr>
          <p:cNvPr id="44" name="Registry"/>
          <p:cNvSpPr/>
          <p:nvPr/>
        </p:nvSpPr>
        <p:spPr>
          <a:xfrm>
            <a:off x="4572000" y="2133600"/>
            <a:ext cx="2514000" cy="533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7B61F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/>
              </a:rPr>
              <a:t>AgentRegistry.sol</a:t>
            </a:r>
          </a:p>
          <a:p>
            <a:pPr algn="ctr">
              <a:buNone/>
            </a:pPr>
            <a:r>
              <a:rPr lang="en-US" sz="1400" dirty="0">
                <a:solidFill>
                  <a:srgbClr val="7B61FF"/>
                </a:solidFill>
                <a:latin typeface="Inter"/>
              </a:rPr>
              <a:t>ERC-8004 trust</a:t>
            </a:r>
          </a:p>
        </p:txBody>
      </p:sp>
      <p:sp>
        <p:nvSpPr>
          <p:cNvPr id="45" name="USDC"/>
          <p:cNvSpPr/>
          <p:nvPr/>
        </p:nvSpPr>
        <p:spPr>
          <a:xfrm>
            <a:off x="3886200" y="2971800"/>
            <a:ext cx="3886200" cy="685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D4A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USDC on Arc</a:t>
            </a:r>
          </a:p>
          <a:p>
            <a:pPr algn="ctr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approveAndPay → submitResult</a:t>
            </a:r>
          </a:p>
        </p:txBody>
      </p:sp>
      <p:sp>
        <p:nvSpPr>
          <p:cNvPr id="50" name="Arrow1"/>
          <p:cNvSpPr/>
          <p:nvPr/>
        </p:nvSpPr>
        <p:spPr>
          <a:xfrm>
            <a:off x="2743200" y="1371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0052FF"/>
                </a:solidFill>
                <a:latin typeface="Inter"/>
              </a:rPr>
              <a:t>postTask ▶</a:t>
            </a:r>
          </a:p>
        </p:txBody>
      </p:sp>
      <p:sp>
        <p:nvSpPr>
          <p:cNvPr id="51" name="Arrow2"/>
          <p:cNvSpPr/>
          <p:nvPr/>
        </p:nvSpPr>
        <p:spPr>
          <a:xfrm>
            <a:off x="7544400" y="1371600"/>
            <a:ext cx="114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00D4AA"/>
                </a:solidFill>
                <a:latin typeface="Inter"/>
              </a:rPr>
              <a:t>◀ bidOnTask</a:t>
            </a:r>
          </a:p>
        </p:txBody>
      </p:sp>
      <p:sp>
        <p:nvSpPr>
          <p:cNvPr id="55" name="Bullets"/>
          <p:cNvSpPr/>
          <p:nvPr/>
        </p:nvSpPr>
        <p:spPr>
          <a:xfrm>
            <a:off x="457200" y="3886200"/>
            <a:ext cx="112776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999999"/>
                </a:solidFill>
                <a:latin typeface="Inter"/>
              </a:rPr>
              <a:t>Smart contracts: </a:t>
            </a:r>
            <a:r>
              <a:rPr lang="en-US" sz="1400" b="1" dirty="0">
                <a:solidFill>
                  <a:srgbClr val="D0D0D0"/>
                </a:solidFill>
                <a:latin typeface="Inter"/>
              </a:rPr>
              <a:t>Solidity</a:t>
            </a:r>
            <a:r>
              <a:rPr lang="en-US" sz="1400" dirty="0">
                <a:solidFill>
                  <a:srgbClr val="999999"/>
                </a:solidFill>
                <a:latin typeface="Inter"/>
              </a:rPr>
              <a:t> (TaskMarket, AgentRegistry) + </a:t>
            </a:r>
            <a:r>
              <a:rPr lang="en-US" sz="1400" b="1" dirty="0">
                <a:solidFill>
                  <a:srgbClr val="D0D0D0"/>
                </a:solidFill>
                <a:latin typeface="Inter"/>
              </a:rPr>
              <a:t>Vyper</a:t>
            </a:r>
            <a:r>
              <a:rPr lang="en-US" sz="1400" dirty="0">
                <a:solidFill>
                  <a:srgbClr val="999999"/>
                </a:solidFill>
                <a:latin typeface="Inter"/>
              </a:rPr>
              <a:t> references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999999"/>
                </a:solidFill>
                <a:latin typeface="Inter"/>
              </a:rPr>
              <a:t>Agents: TypeScript + </a:t>
            </a:r>
            <a:r>
              <a:rPr lang="en-US" sz="1400" b="1" dirty="0">
                <a:solidFill>
                  <a:srgbClr val="D0D0D0"/>
                </a:solidFill>
                <a:latin typeface="Inter"/>
              </a:rPr>
              <a:t>Claude Haiku 4.5</a:t>
            </a:r>
            <a:r>
              <a:rPr lang="en-US" sz="1400" dirty="0">
                <a:solidFill>
                  <a:srgbClr val="999999"/>
                </a:solidFill>
                <a:latin typeface="Inter"/>
              </a:rPr>
              <a:t>  |  Wallets: </a:t>
            </a:r>
            <a:r>
              <a:rPr lang="en-US" sz="1400" b="1" dirty="0">
                <a:solidFill>
                  <a:srgbClr val="D0D0D0"/>
                </a:solidFill>
                <a:latin typeface="Inter"/>
              </a:rPr>
              <a:t>Circle DC Wallets</a:t>
            </a:r>
            <a:r>
              <a:rPr lang="en-US" sz="1400" dirty="0">
                <a:solidFill>
                  <a:srgbClr val="999999"/>
                </a:solidFill>
                <a:latin typeface="Inter"/>
              </a:rPr>
              <a:t> (9 wallets, MPC)  |  Payment: </a:t>
            </a:r>
            <a:r>
              <a:rPr lang="en-US" sz="1400" b="1" dirty="0">
                <a:solidFill>
                  <a:srgbClr val="D0D0D0"/>
                </a:solidFill>
                <a:latin typeface="Inter"/>
              </a:rPr>
              <a:t>@circle-fin/x402-batching</a:t>
            </a:r>
          </a:p>
        </p:txBody>
      </p:sp>
    </p:spTree>
    <p:extLst>
      <p:ext uri="{BB962C8B-B14F-4D97-AF65-F5344CB8AC3E}">
        <p14:creationId xmlns:p14="http://schemas.microsoft.com/office/powerpoint/2010/main" val="131892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/>
          <p:nvPr/>
        </p:nvSpPr>
        <p:spPr>
          <a:xfrm>
            <a:off x="457200" y="2286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Live on Arc Testnet — economic proof</a:t>
            </a:r>
          </a:p>
        </p:txBody>
      </p:sp>
      <p:sp>
        <p:nvSpPr>
          <p:cNvPr id="61" name="Metric0"/>
          <p:cNvSpPr/>
          <p:nvPr/>
        </p:nvSpPr>
        <p:spPr>
          <a:xfrm>
            <a:off x="457200" y="15240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Tasks posted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0052FF"/>
                </a:solidFill>
                <a:latin typeface="Inter"/>
              </a:rPr>
              <a:t>100+</a:t>
            </a:r>
          </a:p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51 items × 2–3 tasks/item</a:t>
            </a:r>
          </a:p>
        </p:txBody>
      </p:sp>
      <p:sp>
        <p:nvSpPr>
          <p:cNvPr id="62" name="Metric1"/>
          <p:cNvSpPr/>
          <p:nvPr/>
        </p:nvSpPr>
        <p:spPr>
          <a:xfrm>
            <a:off x="4114800" y="15240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Per-task cost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00D4AA"/>
                </a:solidFill>
                <a:latin typeface="Inter"/>
              </a:rPr>
              <a:t>$0.002–$0.004</a:t>
            </a:r>
          </a:p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≤ $0.01 ✅</a:t>
            </a:r>
          </a:p>
        </p:txBody>
      </p:sp>
      <p:sp>
        <p:nvSpPr>
          <p:cNvPr id="63" name="Metric2"/>
          <p:cNvSpPr/>
          <p:nvPr/>
        </p:nvSpPr>
        <p:spPr>
          <a:xfrm>
            <a:off x="7772400" y="15240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On-chain txs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7B61FF"/>
                </a:solidFill>
                <a:latin typeface="Inter"/>
              </a:rPr>
              <a:t>400+</a:t>
            </a:r>
          </a:p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across 100+ unique txs ≥ 50 ✅</a:t>
            </a:r>
          </a:p>
        </p:txBody>
      </p:sp>
      <p:sp>
        <p:nvSpPr>
          <p:cNvPr id="64" name="Metric3"/>
          <p:cNvSpPr/>
          <p:nvPr/>
        </p:nvSpPr>
        <p:spPr>
          <a:xfrm>
            <a:off x="457200" y="38862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Throughput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0052FF"/>
                </a:solidFill>
                <a:latin typeface="Inter"/>
              </a:rPr>
              <a:t>2+ tasks/sec</a:t>
            </a:r>
          </a:p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sustained</a:t>
            </a:r>
          </a:p>
        </p:txBody>
      </p:sp>
      <p:sp>
        <p:nvSpPr>
          <p:cNvPr id="65" name="Metric4"/>
          <p:cNvSpPr/>
          <p:nvPr/>
        </p:nvSpPr>
        <p:spPr>
          <a:xfrm>
            <a:off x="4114800" y="38862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Gas paid (Arc)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00D4AA"/>
                </a:solidFill>
                <a:latin typeface="Inter"/>
              </a:rPr>
              <a:t>~$0</a:t>
            </a:r>
          </a:p>
        </p:txBody>
      </p:sp>
      <p:sp>
        <p:nvSpPr>
          <p:cNvPr id="66" name="Metric5"/>
          <p:cNvSpPr/>
          <p:nvPr/>
        </p:nvSpPr>
        <p:spPr>
          <a:xfrm>
            <a:off x="7772400" y="3886200"/>
            <a:ext cx="3429000" cy="2133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Gas on Ethereum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FF4757"/>
                </a:solidFill>
                <a:latin typeface="Inter"/>
              </a:rPr>
              <a:t>$240+</a:t>
            </a:r>
          </a:p>
          <a:p>
            <a:pPr algn="ctr">
              <a:buNone/>
            </a:pPr>
            <a:r>
              <a:rPr lang="en-US" sz="1400" dirty="0">
                <a:solidFill>
                  <a:srgbClr val="808080"/>
                </a:solidFill>
                <a:latin typeface="Inter"/>
              </a:rPr>
              <a:t>what it would have cost</a:t>
            </a:r>
          </a:p>
        </p:txBody>
      </p:sp>
    </p:spTree>
    <p:extLst>
      <p:ext uri="{BB962C8B-B14F-4D97-AF65-F5344CB8AC3E}">
        <p14:creationId xmlns:p14="http://schemas.microsoft.com/office/powerpoint/2010/main" val="308882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457200" y="1524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/>
              </a:rPr>
              <a:t>Sub-cent API monetization with </a:t>
            </a:r>
            <a:r>
              <a:rPr lang="en-US" sz="2800" b="1" dirty="0">
                <a:solidFill>
                  <a:srgbClr val="7B61FF"/>
                </a:solidFill>
                <a:latin typeface="Inter"/>
              </a:rPr>
              <a:t>@circle-fin/x402-batching</a:t>
            </a:r>
          </a:p>
        </p:txBody>
      </p:sp>
      <p:sp>
        <p:nvSpPr>
          <p:cNvPr id="71" name="SellerCode"/>
          <p:cNvSpPr/>
          <p:nvPr/>
        </p:nvSpPr>
        <p:spPr>
          <a:xfrm>
            <a:off x="457200" y="914400"/>
            <a:ext cx="11277600" cy="18288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i="1" dirty="0">
                <a:solidFill>
                  <a:srgbClr val="666666"/>
                </a:solidFill>
                <a:latin typeface="Consolas"/>
              </a:rPr>
              <a:t>// Seller (8 lines)</a:t>
            </a:r>
          </a:p>
          <a:p>
            <a:pPr algn="l">
              <a:buNone/>
            </a:pPr>
            <a:r>
              <a:rPr lang="en-US" sz="1600" dirty="0">
                <a:solidFill>
                  <a:srgbClr val="7B61FF"/>
                </a:solidFill>
                <a:latin typeface="Consolas"/>
              </a:rPr>
              <a:t>const 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gateway = createGatewayMiddleware({</a:t>
            </a:r>
          </a:p>
          <a:p>
            <a:pPr algn="l">
              <a:buNone/>
            </a:pPr>
            <a:r>
              <a:rPr lang="en-US" sz="1600" dirty="0">
                <a:solidFill>
                  <a:srgbClr val="D0D0D0"/>
                </a:solidFill>
                <a:latin typeface="Consolas"/>
              </a:rPr>
              <a:t>  sellerAddress, chain: </a:t>
            </a:r>
            <a:r>
              <a:rPr lang="en-US" sz="1600" dirty="0">
                <a:solidFill>
                  <a:srgbClr val="00D4AA"/>
                </a:solidFill>
                <a:latin typeface="Consolas"/>
              </a:rPr>
              <a:t>"arcTestnet"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 });</a:t>
            </a:r>
          </a:p>
          <a:p>
            <a:pPr algn="l">
              <a:buNone/>
            </a:pPr>
            <a:r>
              <a:rPr lang="en-US" sz="1600" dirty="0">
                <a:solidFill>
                  <a:srgbClr val="D0D0D0"/>
                </a:solidFill>
                <a:latin typeface="Consolas"/>
              </a:rPr>
              <a:t>app.get(</a:t>
            </a:r>
            <a:r>
              <a:rPr lang="en-US" sz="1600" dirty="0">
                <a:solidFill>
                  <a:srgbClr val="00D4AA"/>
                </a:solidFill>
                <a:latin typeface="Consolas"/>
              </a:rPr>
              <a:t>"/premium-data"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, gateway.require(</a:t>
            </a:r>
            <a:r>
              <a:rPr lang="en-US" sz="1600" dirty="0">
                <a:solidFill>
                  <a:srgbClr val="FF6B35"/>
                </a:solidFill>
                <a:latin typeface="Consolas"/>
              </a:rPr>
              <a:t>"$0.001"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), handler);</a:t>
            </a:r>
          </a:p>
        </p:txBody>
      </p:sp>
      <p:sp>
        <p:nvSpPr>
          <p:cNvPr id="72" name="BuyerCode"/>
          <p:cNvSpPr/>
          <p:nvPr/>
        </p:nvSpPr>
        <p:spPr>
          <a:xfrm>
            <a:off x="457200" y="2895600"/>
            <a:ext cx="11277600" cy="13716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i="1" dirty="0">
                <a:solidFill>
                  <a:srgbClr val="666666"/>
                </a:solidFill>
                <a:latin typeface="Consolas"/>
              </a:rPr>
              <a:t>// Buyer (2 lines)</a:t>
            </a:r>
          </a:p>
          <a:p>
            <a:pPr algn="l">
              <a:buNone/>
            </a:pPr>
            <a:r>
              <a:rPr lang="en-US" sz="1600" dirty="0">
                <a:solidFill>
                  <a:srgbClr val="7B61FF"/>
                </a:solidFill>
                <a:latin typeface="Consolas"/>
              </a:rPr>
              <a:t>const 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client = </a:t>
            </a:r>
            <a:r>
              <a:rPr lang="en-US" sz="1600" dirty="0">
                <a:solidFill>
                  <a:srgbClr val="7B61FF"/>
                </a:solidFill>
                <a:latin typeface="Consolas"/>
              </a:rPr>
              <a:t>new 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GatewayClient({ chain: </a:t>
            </a:r>
            <a:r>
              <a:rPr lang="en-US" sz="1600" dirty="0">
                <a:solidFill>
                  <a:srgbClr val="00D4AA"/>
                </a:solidFill>
                <a:latin typeface="Consolas"/>
              </a:rPr>
              <a:t>"arcTestnet"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, privateKey });</a:t>
            </a:r>
          </a:p>
          <a:p>
            <a:pPr algn="l">
              <a:buNone/>
            </a:pPr>
            <a:r>
              <a:rPr lang="en-US" sz="1600" dirty="0">
                <a:solidFill>
                  <a:srgbClr val="7B61FF"/>
                </a:solidFill>
                <a:latin typeface="Consolas"/>
              </a:rPr>
              <a:t>const 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{ data } = </a:t>
            </a:r>
            <a:r>
              <a:rPr lang="en-US" sz="1600" dirty="0">
                <a:solidFill>
                  <a:srgbClr val="7B61FF"/>
                </a:solidFill>
                <a:latin typeface="Consolas"/>
              </a:rPr>
              <a:t>await 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client.pay(</a:t>
            </a:r>
            <a:r>
              <a:rPr lang="en-US" sz="1600" dirty="0">
                <a:solidFill>
                  <a:srgbClr val="00D4AA"/>
                </a:solidFill>
                <a:latin typeface="Consolas"/>
              </a:rPr>
              <a:t>"https://seller/premium-data"</a:t>
            </a:r>
            <a:r>
              <a:rPr lang="en-US" sz="1600" dirty="0">
                <a:solidFill>
                  <a:srgbClr val="D0D0D0"/>
                </a:solidFill>
                <a:latin typeface="Consolas"/>
              </a:rPr>
              <a:t>);</a:t>
            </a:r>
          </a:p>
        </p:txBody>
      </p:sp>
      <p:sp>
        <p:nvSpPr>
          <p:cNvPr id="73" name="NanoBullets"/>
          <p:cNvSpPr/>
          <p:nvPr/>
        </p:nvSpPr>
        <p:spPr>
          <a:xfrm>
            <a:off x="457200" y="4495800"/>
            <a:ext cx="11277600" cy="2057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D0D0D0"/>
                </a:solidFill>
                <a:latin typeface="Inter"/>
              </a:rPr>
              <a:t>Gateway batches signed EIP-3009 authorizations → net settlement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>
                <a:solidFill>
                  <a:srgbClr val="D0D0D0"/>
                </a:solidFill>
                <a:latin typeface="Inter"/>
              </a:rPr>
              <a:t>Buyer deposits once, pays per call from unified balance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0052FF"/>
                </a:solidFill>
                <a:latin typeface="Inter"/>
              </a:rPr>
              <a:t>60 paid API calls</a:t>
            </a:r>
            <a:r>
              <a:rPr lang="en-US" sz="1800" dirty="0">
                <a:solidFill>
                  <a:srgbClr val="D0D0D0"/>
                </a:solidFill>
                <a:latin typeface="Inter"/>
              </a:rPr>
              <a:t> demonstrated via npm run nano-buyer</a:t>
            </a:r>
          </a:p>
        </p:txBody>
      </p:sp>
    </p:spTree>
    <p:extLst>
      <p:ext uri="{BB962C8B-B14F-4D97-AF65-F5344CB8AC3E}">
        <p14:creationId xmlns:p14="http://schemas.microsoft.com/office/powerpoint/2010/main" val="402638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5E43C-A0AF-495D-9B2B-80E5570D930F}"/>
              </a:ext>
            </a:extLst>
          </p:cNvPr>
          <p:cNvSpPr txBox="1"/>
          <p:nvPr/>
        </p:nvSpPr>
        <p:spPr>
          <a:xfrm>
            <a:off x="457200" y="228600"/>
            <a:ext cx="11277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Inter"/>
              </a:rPr>
              <a:t>Why this fails on every other chain</a:t>
            </a:r>
            <a:endParaRPr lang="en-GH" sz="3200" b="1">
              <a:solidFill>
                <a:srgbClr val="FFFFFF"/>
              </a:solidFill>
              <a:latin typeface="Inter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7772AD-46A3-4968-87D0-2DB8455AE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385903"/>
              </p:ext>
            </p:extLst>
          </p:nvPr>
        </p:nvGraphicFramePr>
        <p:xfrm>
          <a:off x="1016000" y="1524000"/>
          <a:ext cx="10160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52205745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89180339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041560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99295008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GH" sz="1800" b="1">
                          <a:solidFill>
                            <a:srgbClr val="FFFFFF"/>
                          </a:solidFill>
                          <a:latin typeface="Inter"/>
                        </a:rPr>
                        <a:t>Network</a:t>
                      </a:r>
                    </a:p>
                  </a:txBody>
                  <a:tcPr anchor="ctr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FFFF"/>
                          </a:solidFill>
                          <a:latin typeface="Inter"/>
                        </a:rPr>
                        <a:t>Fee/tx</a:t>
                      </a:r>
                    </a:p>
                  </a:txBody>
                  <a:tcPr anchor="ctr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FFFF"/>
                          </a:solidFill>
                          <a:latin typeface="Inter"/>
                        </a:rPr>
                        <a:t>4 txs/task</a:t>
                      </a:r>
                    </a:p>
                  </a:txBody>
                  <a:tcPr anchor="ctr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FFFF"/>
                          </a:solidFill>
                          <a:latin typeface="Inter"/>
                        </a:rPr>
                        <a:t>% of $0.003 reward</a:t>
                      </a:r>
                    </a:p>
                  </a:txBody>
                  <a:tcPr anchor="ctr">
                    <a:solidFill>
                      <a:srgbClr val="005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8546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Ethereum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$0.60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$2.40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4757"/>
                          </a:solidFill>
                          <a:latin typeface="Inter"/>
                        </a:rPr>
                        <a:t>80,000% ❌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1455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Base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$0.02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$0.08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4757"/>
                          </a:solidFill>
                          <a:latin typeface="Inter"/>
                        </a:rPr>
                        <a:t>2,667% ❌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85703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Polygon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$0.005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>
                          <a:solidFill>
                            <a:srgbClr val="D0D0D0"/>
                          </a:solidFill>
                          <a:latin typeface="Inter"/>
                        </a:rPr>
                        <a:t>$0.02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FF4757"/>
                          </a:solidFill>
                          <a:latin typeface="Inter"/>
                        </a:rPr>
                        <a:t>667% ❌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7744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GH" sz="1800" b="1">
                          <a:solidFill>
                            <a:srgbClr val="00D4AA"/>
                          </a:solidFill>
                          <a:latin typeface="Inter"/>
                        </a:rPr>
                        <a:t>Arc</a:t>
                      </a:r>
                    </a:p>
                  </a:txBody>
                  <a:tcPr anchor="ctr"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00D4AA"/>
                          </a:solidFill>
                          <a:latin typeface="Inter"/>
                        </a:rPr>
                        <a:t>&lt;$0.0001</a:t>
                      </a:r>
                    </a:p>
                  </a:txBody>
                  <a:tcPr anchor="ctr"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00D4AA"/>
                          </a:solidFill>
                          <a:latin typeface="Inter"/>
                        </a:rPr>
                        <a:t>&lt;$0.0001</a:t>
                      </a:r>
                    </a:p>
                  </a:txBody>
                  <a:tcPr anchor="ctr"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H" sz="1800" b="1">
                          <a:solidFill>
                            <a:srgbClr val="00D4AA"/>
                          </a:solidFill>
                          <a:latin typeface="Inter"/>
                        </a:rPr>
                        <a:t>&lt;1% ✅</a:t>
                      </a:r>
                    </a:p>
                  </a:txBody>
                  <a:tcPr anchor="ctr">
                    <a:solidFill>
                      <a:srgbClr val="0A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236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95CEBE2-8711-4289-8D7C-A4A9DC28C98B}"/>
              </a:ext>
            </a:extLst>
          </p:cNvPr>
          <p:cNvSpPr txBox="1"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FF6B35"/>
                </a:solidFill>
                <a:latin typeface="Inter"/>
              </a:rPr>
              <a:t>138 tasks. On Arc: ~$0 gas. On Ethereum: $331 burned before a single reward is paid.</a:t>
            </a:r>
            <a:endParaRPr lang="en-GH" i="1">
              <a:solidFill>
                <a:srgbClr val="FF6B35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1414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/>
          <p:nvPr/>
        </p:nvSpPr>
        <p:spPr>
          <a:xfrm>
            <a:off x="457200" y="1524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Built with Circle. Ready to scale.</a:t>
            </a:r>
          </a:p>
        </p:txBody>
      </p:sp>
      <p:sp>
        <p:nvSpPr>
          <p:cNvPr id="81" name="LeftCol"/>
          <p:cNvSpPr/>
          <p:nvPr/>
        </p:nvSpPr>
        <p:spPr>
          <a:xfrm>
            <a:off x="457200" y="914400"/>
            <a:ext cx="5486400" cy="34290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52FF"/>
                </a:solidFill>
                <a:latin typeface="Inter"/>
              </a:rPr>
              <a:t>Products we used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Arc (L1 settlement)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USDC (native gas + value)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Circle Nanopayments — @circle-fin/x402-batching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Circle DC Wallets — @circle-fin/developer-controlled-wallets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Circle Smart Contract Platform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ERC-8004 trust layer (identity + reputation)</a:t>
            </a:r>
          </a:p>
        </p:txBody>
      </p:sp>
      <p:sp>
        <p:nvSpPr>
          <p:cNvPr id="82" name="RightCol"/>
          <p:cNvSpPr/>
          <p:nvPr/>
        </p:nvSpPr>
        <p:spPr>
          <a:xfrm>
            <a:off x="6172200" y="914400"/>
            <a:ext cx="5562600" cy="342900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00D4AA"/>
                </a:solidFill>
                <a:latin typeface="Inter"/>
              </a:rPr>
              <a:t>What's next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Multi-chain via Circle CCTP / Bridge Kit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Gateway-unified balance for cross-chain settlement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Expand to compute marketplaces (per-GPU-second)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D0D0D0"/>
                </a:solidFill>
                <a:latin typeface="Inter"/>
              </a:rPr>
              <a:t>On-chain dispute + slashing for bad results</a:t>
            </a:r>
          </a:p>
        </p:txBody>
      </p:sp>
      <p:sp>
        <p:nvSpPr>
          <p:cNvPr id="83" name="Footer"/>
          <p:cNvSpPr/>
          <p:nvPr/>
        </p:nvSpPr>
        <p:spPr>
          <a:xfrm>
            <a:off x="457200" y="4572000"/>
            <a:ext cx="1127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  <a:latin typeface="Inter"/>
              </a:rPr>
              <a:t>📂 Repo: github.com/genyarko/swarm-market  |  📄 submission/SUBMISSION.md  |  📄 FEEDBACK.md  |  📄 MARGIN.md</a:t>
            </a:r>
          </a:p>
        </p:txBody>
      </p:sp>
    </p:spTree>
    <p:extLst>
      <p:ext uri="{BB962C8B-B14F-4D97-AF65-F5344CB8AC3E}">
        <p14:creationId xmlns:p14="http://schemas.microsoft.com/office/powerpoint/2010/main" val="3592093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344720417]">
  <a:themeElements>
    <a:clrScheme name="Arc Dark">
      <a:dk1>
        <a:srgbClr val="F0F0F0"/>
      </a:dk1>
      <a:lt1>
        <a:srgbClr val="0A0A0A"/>
      </a:lt1>
      <a:dk2>
        <a:srgbClr val="B0B0B0"/>
      </a:dk2>
      <a:lt2>
        <a:srgbClr val="1A1A1A"/>
      </a:lt2>
      <a:accent1>
        <a:srgbClr val="0052FF"/>
      </a:accent1>
      <a:accent2>
        <a:srgbClr val="00D4AA"/>
      </a:accent2>
      <a:accent3>
        <a:srgbClr val="7B61FF"/>
      </a:accent3>
      <a:accent4>
        <a:srgbClr val="FF6B35"/>
      </a:accent4>
      <a:accent5>
        <a:srgbClr val="00A3FF"/>
      </a:accent5>
      <a:accent6>
        <a:srgbClr val="FF4757"/>
      </a:accent6>
      <a:hlink>
        <a:srgbClr val="0052FF"/>
      </a:hlink>
      <a:folHlink>
        <a:srgbClr val="7B61FF"/>
      </a:folHlink>
    </a:clrScheme>
    <a:fontScheme name="Arc Deck">
      <a:majorFont>
        <a:latin typeface="Int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89f711-0ddb-4620-a471-576063abfb61}">
  <we:reference id="WA200010001" version="1.0.0.1" store="en-US" storeType="OMEX"/>
  <we:alternateReferences/>
  <we:properties>
    <we:property name="Microsoft.Office.CampaignId" value="&quot;none&quot;"/>
    <we:property name="claude.fileId" value="&quot;3ffc06c6-3ae4-4c27-a06c-5f2708043ac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554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Inter</vt:lpstr>
      <vt:lpstr>Office Theme [1776344720417]</vt:lpstr>
      <vt:lpstr>PowerPoint Presentation</vt:lpstr>
      <vt:lpstr>The agent economy stalls at gas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George Nyarko</cp:lastModifiedBy>
  <cp:revision>4</cp:revision>
  <dcterms:created xsi:type="dcterms:W3CDTF">2018-06-07T21:39:02Z</dcterms:created>
  <dcterms:modified xsi:type="dcterms:W3CDTF">2026-04-16T16:11:04Z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